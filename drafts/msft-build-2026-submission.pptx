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325880"/>
          </a:xfrm>
          <a:prstGeom prst="rect">
            <a:avLst/>
          </a:prstGeom>
          <a:solidFill>
            <a:srgbClr val="0B64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64008"/>
            <a:ext cx="11704320" cy="640080"/>
          </a:xfrm>
          <a:prstGeom prst="rect">
            <a:avLst/>
          </a:prstGeom>
          <a:noFill/>
        </p:spPr>
        <p:txBody>
          <a:bodyPr wrap="square">
            <a:spAutoFit/>
          </a:bodyPr>
          <a:lstStyle/>
          <a:p>
            <a:r>
              <a:rPr sz="2000" b="1">
                <a:solidFill>
                  <a:srgbClr val="FFFFFF"/>
                </a:solidFill>
                <a:latin typeface="Calibri"/>
              </a:rPr>
              <a:t>Give Your AI Reviewer a Memory: Production-Aware PRs with Copilot, Elastic, and Azure AI</a:t>
            </a:r>
          </a:p>
        </p:txBody>
      </p:sp>
      <p:sp>
        <p:nvSpPr>
          <p:cNvPr id="4" name="TextBox 3"/>
          <p:cNvSpPr txBox="1"/>
          <p:nvPr/>
        </p:nvSpPr>
        <p:spPr>
          <a:xfrm>
            <a:off x="228600" y="777240"/>
            <a:ext cx="11704320" cy="320040"/>
          </a:xfrm>
          <a:prstGeom prst="rect">
            <a:avLst/>
          </a:prstGeom>
          <a:noFill/>
        </p:spPr>
        <p:txBody>
          <a:bodyPr wrap="square">
            <a:spAutoFit/>
          </a:bodyPr>
          <a:lstStyle/>
          <a:p>
            <a:r>
              <a:rPr sz="1000" b="0">
                <a:solidFill>
                  <a:srgbClr val="D0E4FF"/>
                </a:solidFill>
                <a:latin typeface="Calibri"/>
              </a:rPr>
              <a:t>Jeff Vestal · Sr. Principal AI Architect @ Elastic   |   Microsoft Build 2026   |   Track: AI + GitHub Copilot   |   Level 300 · Breakout · 25 min · Solo</a:t>
            </a:r>
          </a:p>
        </p:txBody>
      </p:sp>
      <p:sp>
        <p:nvSpPr>
          <p:cNvPr id="5" name="TextBox 4"/>
          <p:cNvSpPr txBox="1"/>
          <p:nvPr/>
        </p:nvSpPr>
        <p:spPr>
          <a:xfrm>
            <a:off x="228600" y="1417320"/>
            <a:ext cx="1097280" cy="201168"/>
          </a:xfrm>
          <a:prstGeom prst="rect">
            <a:avLst/>
          </a:prstGeom>
          <a:noFill/>
        </p:spPr>
        <p:txBody>
          <a:bodyPr wrap="square">
            <a:spAutoFit/>
          </a:bodyPr>
          <a:lstStyle/>
          <a:p>
            <a:r>
              <a:rPr sz="800" b="1">
                <a:solidFill>
                  <a:srgbClr val="0B64DD"/>
                </a:solidFill>
                <a:latin typeface="Calibri"/>
              </a:rPr>
              <a:t>ABSTRACT</a:t>
            </a:r>
          </a:p>
        </p:txBody>
      </p:sp>
      <p:sp>
        <p:nvSpPr>
          <p:cNvPr id="6" name="TextBox 5"/>
          <p:cNvSpPr txBox="1"/>
          <p:nvPr/>
        </p:nvSpPr>
        <p:spPr>
          <a:xfrm>
            <a:off x="228600" y="1627632"/>
            <a:ext cx="6217920" cy="1645920"/>
          </a:xfrm>
          <a:prstGeom prst="rect">
            <a:avLst/>
          </a:prstGeom>
          <a:noFill/>
        </p:spPr>
        <p:txBody>
          <a:bodyPr wrap="square">
            <a:spAutoFit/>
          </a:bodyPr>
          <a:lstStyle/>
          <a:p>
            <a:r>
              <a:rPr sz="950" b="0">
                <a:solidFill>
                  <a:srgbClr val="1C1E23"/>
                </a:solidFill>
                <a:latin typeface="Calibri"/>
              </a:rPr>
              <a:t>Your AI code reviewer reads every diff — but it has no memory of what took down production at 2am three months ago. In this session, you'll see how to fix that. We'll build a production-aware PR review pipeline using GitHub Copilot, Elastic Agent Builder, and Azure AI Foundry. A GitHub Action triggers an Elastic Workflow that invokes an AI agent with access to two sources of memory: OpenTelemetry traces and historical incident postmortems — both stored in Elasticsearch. The agent reads the diff, matches against known failure patterns, and posts a code review comment before a human ever opens the PR. Then we switch to VS Code Copilot Agent Mode, connected to the same Elastic MCP server, to investigate and fix the issue. One MCP server. Two entry points. A reviewer that remembers.</a:t>
            </a:r>
          </a:p>
        </p:txBody>
      </p:sp>
      <p:sp>
        <p:nvSpPr>
          <p:cNvPr id="7" name="TextBox 6"/>
          <p:cNvSpPr txBox="1"/>
          <p:nvPr/>
        </p:nvSpPr>
        <p:spPr>
          <a:xfrm>
            <a:off x="228600" y="3337560"/>
            <a:ext cx="1645920" cy="201168"/>
          </a:xfrm>
          <a:prstGeom prst="rect">
            <a:avLst/>
          </a:prstGeom>
          <a:noFill/>
        </p:spPr>
        <p:txBody>
          <a:bodyPr wrap="square">
            <a:spAutoFit/>
          </a:bodyPr>
          <a:lstStyle/>
          <a:p>
            <a:r>
              <a:rPr sz="800" b="1">
                <a:solidFill>
                  <a:srgbClr val="0B64DD"/>
                </a:solidFill>
                <a:latin typeface="Calibri"/>
              </a:rPr>
              <a:t>LEAVE BEHIND</a:t>
            </a:r>
          </a:p>
        </p:txBody>
      </p:sp>
      <p:sp>
        <p:nvSpPr>
          <p:cNvPr id="8" name="TextBox 7"/>
          <p:cNvSpPr txBox="1"/>
          <p:nvPr/>
        </p:nvSpPr>
        <p:spPr>
          <a:xfrm>
            <a:off x="228600" y="3547872"/>
            <a:ext cx="6217920" cy="731520"/>
          </a:xfrm>
          <a:prstGeom prst="rect">
            <a:avLst/>
          </a:prstGeom>
          <a:noFill/>
        </p:spPr>
        <p:txBody>
          <a:bodyPr wrap="square">
            <a:spAutoFit/>
          </a:bodyPr>
          <a:lstStyle/>
          <a:p>
            <a:r>
              <a:rPr sz="950" b="0">
                <a:solidFill>
                  <a:srgbClr val="1C1E23"/>
                </a:solidFill>
                <a:latin typeface="Calibri"/>
              </a:rPr>
              <a:t>1.  GitHub repo: Wayfinder Supply Co — full demo code, MCP server, harness scripts, .vscode/mcp.json template</a:t>
            </a:r>
          </a:p>
          <a:p>
            <a:r>
              <a:rPr sz="950" b="0">
                <a:solidFill>
                  <a:srgbClr val="1C1E23"/>
                </a:solidFill>
                <a:latin typeface="Calibri"/>
              </a:rPr>
              <a:t>2.  Elastic Agent Builder + Workflows quickstart docs — elastic.co/agent-builder</a:t>
            </a:r>
          </a:p>
          <a:p>
            <a:r>
              <a:rPr sz="950" b="0">
                <a:solidFill>
                  <a:srgbClr val="1C1E23"/>
                </a:solidFill>
                <a:latin typeface="Calibri"/>
              </a:rPr>
              <a:t>3.  Architecture diagram (GitHub → Elastic Workflow → Agent Builder → Azure AI Foundry) — in session slide deck</a:t>
            </a:r>
          </a:p>
        </p:txBody>
      </p:sp>
      <p:sp>
        <p:nvSpPr>
          <p:cNvPr id="9" name="TextBox 8"/>
          <p:cNvSpPr txBox="1"/>
          <p:nvPr/>
        </p:nvSpPr>
        <p:spPr>
          <a:xfrm>
            <a:off x="228600" y="4343400"/>
            <a:ext cx="1371600" cy="201168"/>
          </a:xfrm>
          <a:prstGeom prst="rect">
            <a:avLst/>
          </a:prstGeom>
          <a:noFill/>
        </p:spPr>
        <p:txBody>
          <a:bodyPr wrap="square">
            <a:spAutoFit/>
          </a:bodyPr>
          <a:lstStyle/>
          <a:p>
            <a:r>
              <a:rPr sz="800" b="1">
                <a:solidFill>
                  <a:srgbClr val="0B64DD"/>
                </a:solidFill>
                <a:latin typeface="Calibri"/>
              </a:rPr>
              <a:t>PREREQUISITES</a:t>
            </a:r>
          </a:p>
        </p:txBody>
      </p:sp>
      <p:sp>
        <p:nvSpPr>
          <p:cNvPr id="10" name="TextBox 9"/>
          <p:cNvSpPr txBox="1"/>
          <p:nvPr/>
        </p:nvSpPr>
        <p:spPr>
          <a:xfrm>
            <a:off x="228600" y="4544568"/>
            <a:ext cx="6217920" cy="228600"/>
          </a:xfrm>
          <a:prstGeom prst="rect">
            <a:avLst/>
          </a:prstGeom>
          <a:noFill/>
        </p:spPr>
        <p:txBody>
          <a:bodyPr wrap="square">
            <a:spAutoFit/>
          </a:bodyPr>
          <a:lstStyle/>
          <a:p>
            <a:r>
              <a:rPr sz="950" b="0">
                <a:solidFill>
                  <a:srgbClr val="1C1E23"/>
                </a:solidFill>
                <a:latin typeface="Calibri"/>
              </a:rPr>
              <a:t>Basic GitHub and VS Code familiarity; no Elastic experience required</a:t>
            </a:r>
          </a:p>
        </p:txBody>
      </p:sp>
      <p:sp>
        <p:nvSpPr>
          <p:cNvPr id="11" name="Rectangle 10"/>
          <p:cNvSpPr/>
          <p:nvPr/>
        </p:nvSpPr>
        <p:spPr>
          <a:xfrm>
            <a:off x="6720840" y="1371600"/>
            <a:ext cx="5239512" cy="52578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03720" y="1463040"/>
            <a:ext cx="4846320" cy="201168"/>
          </a:xfrm>
          <a:prstGeom prst="rect">
            <a:avLst/>
          </a:prstGeom>
          <a:noFill/>
        </p:spPr>
        <p:txBody>
          <a:bodyPr wrap="square">
            <a:spAutoFit/>
          </a:bodyPr>
          <a:lstStyle/>
          <a:p>
            <a:r>
              <a:rPr sz="800" b="1">
                <a:solidFill>
                  <a:srgbClr val="0B64DD"/>
                </a:solidFill>
                <a:latin typeface="Calibri"/>
              </a:rPr>
              <a:t>SESSION GOALS</a:t>
            </a:r>
          </a:p>
        </p:txBody>
      </p:sp>
      <p:sp>
        <p:nvSpPr>
          <p:cNvPr id="13" name="TextBox 12"/>
          <p:cNvSpPr txBox="1"/>
          <p:nvPr/>
        </p:nvSpPr>
        <p:spPr>
          <a:xfrm>
            <a:off x="6903720" y="1673352"/>
            <a:ext cx="4846320" cy="1280160"/>
          </a:xfrm>
          <a:prstGeom prst="rect">
            <a:avLst/>
          </a:prstGeom>
          <a:noFill/>
        </p:spPr>
        <p:txBody>
          <a:bodyPr wrap="square">
            <a:spAutoFit/>
          </a:bodyPr>
          <a:lstStyle/>
          <a:p>
            <a:r>
              <a:rPr sz="950" b="0">
                <a:solidFill>
                  <a:srgbClr val="1C1E23"/>
                </a:solidFill>
                <a:latin typeface="Calibri"/>
              </a:rPr>
              <a:t>1.  Understand how OTel traces and incident postmortems stored in Elasticsearch give Copilot production memory that raw code review lacks.</a:t>
            </a:r>
          </a:p>
          <a:p>
            <a:r>
              <a:rPr sz="950" b="0">
                <a:solidFill>
                  <a:srgbClr val="1C1E23"/>
                </a:solidFill>
                <a:latin typeface="Calibri"/>
              </a:rPr>
              <a:t/>
            </a:r>
          </a:p>
          <a:p>
            <a:r>
              <a:rPr sz="950" b="0">
                <a:solidFill>
                  <a:srgbClr val="1C1E23"/>
                </a:solidFill>
                <a:latin typeface="Calibri"/>
              </a:rPr>
              <a:t>2.  Learn how a single Elastic MCP server connects VS Code Copilot Agent Mode and GitHub Actions without re-wiring — configure once, works everywhere.</a:t>
            </a:r>
          </a:p>
          <a:p>
            <a:r>
              <a:rPr sz="950" b="0">
                <a:solidFill>
                  <a:srgbClr val="1C1E23"/>
                </a:solidFill>
                <a:latin typeface="Calibri"/>
              </a:rPr>
              <a:t/>
            </a:r>
          </a:p>
          <a:p>
            <a:r>
              <a:rPr sz="950" b="0">
                <a:solidFill>
                  <a:srgbClr val="1C1E23"/>
                </a:solidFill>
                <a:latin typeface="Calibri"/>
              </a:rPr>
              <a:t>3.  Walk away with a working pattern for catching concurrency/race regressions at PR time using semantic pattern matching against real trace data.</a:t>
            </a:r>
          </a:p>
        </p:txBody>
      </p:sp>
      <p:sp>
        <p:nvSpPr>
          <p:cNvPr id="14" name="TextBox 13"/>
          <p:cNvSpPr txBox="1"/>
          <p:nvPr/>
        </p:nvSpPr>
        <p:spPr>
          <a:xfrm>
            <a:off x="6903720" y="3017520"/>
            <a:ext cx="4846320" cy="201168"/>
          </a:xfrm>
          <a:prstGeom prst="rect">
            <a:avLst/>
          </a:prstGeom>
          <a:noFill/>
        </p:spPr>
        <p:txBody>
          <a:bodyPr wrap="square">
            <a:spAutoFit/>
          </a:bodyPr>
          <a:lstStyle/>
          <a:p>
            <a:r>
              <a:rPr sz="800" b="1">
                <a:solidFill>
                  <a:srgbClr val="0B64DD"/>
                </a:solidFill>
                <a:latin typeface="Calibri"/>
              </a:rPr>
              <a:t>SESSION FLOW — 25 MIN</a:t>
            </a:r>
          </a:p>
        </p:txBody>
      </p:sp>
      <p:sp>
        <p:nvSpPr>
          <p:cNvPr id="15" name="TextBox 14"/>
          <p:cNvSpPr txBox="1"/>
          <p:nvPr/>
        </p:nvSpPr>
        <p:spPr>
          <a:xfrm>
            <a:off x="6903720" y="3227832"/>
            <a:ext cx="4846320" cy="2377440"/>
          </a:xfrm>
          <a:prstGeom prst="rect">
            <a:avLst/>
          </a:prstGeom>
          <a:noFill/>
        </p:spPr>
        <p:txBody>
          <a:bodyPr wrap="square">
            <a:spAutoFit/>
          </a:bodyPr>
          <a:lstStyle/>
          <a:p>
            <a:r>
              <a:rPr sz="900" b="0">
                <a:solidFill>
                  <a:srgbClr val="1C1E23"/>
                </a:solidFill>
                <a:latin typeface="Calibri"/>
              </a:rPr>
              <a:t>Act 1 — The Problem: Your AI Reviewer Has Amnesia  (~5 min)</a:t>
            </a:r>
          </a:p>
          <a:p>
            <a:r>
              <a:rPr sz="900" b="0">
                <a:solidFill>
                  <a:srgbClr val="1C1E23"/>
                </a:solidFill>
                <a:latin typeface="Calibri"/>
              </a:rPr>
              <a:t>  · Cold open: "Your AI code reviewer has amnesia"  [1 min]</a:t>
            </a:r>
          </a:p>
          <a:p>
            <a:r>
              <a:rPr sz="900" b="0">
                <a:solidFill>
                  <a:srgbClr val="1C1E23"/>
                </a:solidFill>
                <a:latin typeface="Calibri"/>
              </a:rPr>
              <a:t>  · Architecture overview: 4-box diagram  [1 min]</a:t>
            </a:r>
          </a:p>
          <a:p>
            <a:r>
              <a:rPr sz="900" b="0">
                <a:solidFill>
                  <a:srgbClr val="1C1E23"/>
                </a:solidFill>
                <a:latin typeface="Calibri"/>
              </a:rPr>
              <a:t>  · Open demo PR, walk through the diff  [3 min]</a:t>
            </a:r>
          </a:p>
          <a:p>
            <a:r>
              <a:rPr sz="900" b="0">
                <a:solidFill>
                  <a:srgbClr val="1C1E23"/>
                </a:solidFill>
                <a:latin typeface="Calibri"/>
              </a:rPr>
              <a:t/>
            </a:r>
          </a:p>
          <a:p>
            <a:r>
              <a:rPr sz="900" b="0">
                <a:solidFill>
                  <a:srgbClr val="1C1E23"/>
                </a:solidFill>
                <a:latin typeface="Calibri"/>
              </a:rPr>
              <a:t>Act 2 — Give Copilot a Memory  (~13 min)</a:t>
            </a:r>
          </a:p>
          <a:p>
            <a:r>
              <a:rPr sz="900" b="0">
                <a:solidFill>
                  <a:srgbClr val="1C1E23"/>
                </a:solidFill>
                <a:latin typeface="Calibri"/>
              </a:rPr>
              <a:t>  · GH Action fires → Elastic Workflow → Agent Builder → PR comment with trace evidence  [4 min]</a:t>
            </a:r>
          </a:p>
          <a:p>
            <a:r>
              <a:rPr sz="900" b="0">
                <a:solidFill>
                  <a:srgbClr val="1C1E23"/>
                </a:solidFill>
                <a:latin typeface="Calibri"/>
              </a:rPr>
              <a:t>  · VS Code Copilot Agent Mode: MCP pulls live OTel traces, proposes fix  [5 min]</a:t>
            </a:r>
          </a:p>
          <a:p>
            <a:r>
              <a:rPr sz="900" b="0">
                <a:solidFill>
                  <a:srgbClr val="1C1E23"/>
                </a:solidFill>
                <a:latin typeface="Calibri"/>
              </a:rPr>
              <a:t>  · Apply fix; run concurrency harness (20 req, stock=1) — exactly 1 wins  [4 min]</a:t>
            </a:r>
          </a:p>
          <a:p>
            <a:r>
              <a:rPr sz="900" b="0">
                <a:solidFill>
                  <a:srgbClr val="1C1E23"/>
                </a:solidFill>
                <a:latin typeface="Calibri"/>
              </a:rPr>
              <a:t/>
            </a:r>
          </a:p>
          <a:p>
            <a:r>
              <a:rPr sz="900" b="0">
                <a:solidFill>
                  <a:srgbClr val="1C1E23"/>
                </a:solidFill>
                <a:latin typeface="Calibri"/>
              </a:rPr>
              <a:t>Act 3 — Takeaways  (~3 min)</a:t>
            </a:r>
          </a:p>
          <a:p>
            <a:r>
              <a:rPr sz="900" b="0">
                <a:solidFill>
                  <a:srgbClr val="1C1E23"/>
                </a:solidFill>
                <a:latin typeface="Calibri"/>
              </a:rPr>
              <a:t>  · 3 takeaways: memory matters / MCP portability / pattern is general  [2 min]</a:t>
            </a:r>
          </a:p>
          <a:p>
            <a:r>
              <a:rPr sz="900" b="0">
                <a:solidFill>
                  <a:srgbClr val="1C1E23"/>
                </a:solidFill>
                <a:latin typeface="Calibri"/>
              </a:rPr>
              <a:t>  · Related sessions, repo link, elastic.co/agent-builder  [1 min]</a:t>
            </a:r>
          </a:p>
          <a:p>
            <a:r>
              <a:rPr sz="900" b="0">
                <a:solidFill>
                  <a:srgbClr val="1C1E23"/>
                </a:solidFill>
                <a:latin typeface="Calibri"/>
              </a:rPr>
              <a:t/>
            </a:r>
          </a:p>
          <a:p>
            <a:r>
              <a:rPr sz="900" b="0">
                <a:solidFill>
                  <a:srgbClr val="1C1E23"/>
                </a:solidFill>
                <a:latin typeface="Calibri"/>
              </a:rPr>
              <a:t>Q&amp;A (optional)  [4 min]</a:t>
            </a:r>
          </a:p>
        </p:txBody>
      </p:sp>
      <p:sp>
        <p:nvSpPr>
          <p:cNvPr id="16" name="Rectangle 15"/>
          <p:cNvSpPr/>
          <p:nvPr/>
        </p:nvSpPr>
        <p:spPr>
          <a:xfrm>
            <a:off x="0" y="6675120"/>
            <a:ext cx="12188952" cy="182880"/>
          </a:xfrm>
          <a:prstGeom prst="rect">
            <a:avLst/>
          </a:prstGeom>
          <a:solidFill>
            <a:srgbClr val="0B64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